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15F26-B0EA-4213-AD0B-001E2B96D9CA}"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4C941-5E80-4BC0-8170-97009AAB73B2}" type="slidenum">
              <a:rPr lang="en-US" smtClean="0"/>
              <a:t>‹#›</a:t>
            </a:fld>
            <a:endParaRPr lang="en-US"/>
          </a:p>
        </p:txBody>
      </p:sp>
    </p:spTree>
    <p:extLst>
      <p:ext uri="{BB962C8B-B14F-4D97-AF65-F5344CB8AC3E}">
        <p14:creationId xmlns:p14="http://schemas.microsoft.com/office/powerpoint/2010/main" val="3337671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A4C941-5E80-4BC0-8170-97009AAB73B2}" type="slidenum">
              <a:rPr lang="en-US" smtClean="0"/>
              <a:t>1</a:t>
            </a:fld>
            <a:endParaRPr lang="en-US"/>
          </a:p>
        </p:txBody>
      </p:sp>
    </p:spTree>
    <p:extLst>
      <p:ext uri="{BB962C8B-B14F-4D97-AF65-F5344CB8AC3E}">
        <p14:creationId xmlns:p14="http://schemas.microsoft.com/office/powerpoint/2010/main" val="33050163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7/22/2026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7/22/2026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azure/storage/" TargetMode="External"/><Relationship Id="rId2" Type="http://schemas.openxmlformats.org/officeDocument/2006/relationships/hyperlink" Target="https://learn.microsoft.com/azure/role-based-access-control/overview" TargetMode="External"/><Relationship Id="rId1" Type="http://schemas.openxmlformats.org/officeDocument/2006/relationships/slideLayout" Target="../slideLayouts/slideLayout6.xml"/><Relationship Id="rId6" Type="http://schemas.openxmlformats.org/officeDocument/2006/relationships/hyperlink" Target="https://www.churchofjesuschrist.org/study/scriptures/dc-testament" TargetMode="External"/><Relationship Id="rId5" Type="http://schemas.openxmlformats.org/officeDocument/2006/relationships/hyperlink" Target="https://learn.microsoft.com/azure/well-architected/" TargetMode="External"/><Relationship Id="rId4" Type="http://schemas.openxmlformats.org/officeDocument/2006/relationships/hyperlink" Target="https://learn.microsoft.com/entr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CDB7-0744-1894-B2B3-54E714C58C10}"/>
              </a:ext>
            </a:extLst>
          </p:cNvPr>
          <p:cNvSpPr>
            <a:spLocks noGrp="1"/>
          </p:cNvSpPr>
          <p:nvPr>
            <p:ph type="ctrTitle"/>
          </p:nvPr>
        </p:nvSpPr>
        <p:spPr>
          <a:xfrm>
            <a:off x="2281158" y="867530"/>
            <a:ext cx="8791575" cy="2387600"/>
          </a:xfrm>
        </p:spPr>
        <p:txBody>
          <a:bodyPr>
            <a:normAutofit/>
          </a:bodyPr>
          <a:lstStyle/>
          <a:p>
            <a:pPr algn="ctr"/>
            <a:r>
              <a:rPr lang="en-US" sz="4000" b="1" dirty="0">
                <a:solidFill>
                  <a:srgbClr val="FF0000"/>
                </a:solidFill>
                <a:effectLst/>
              </a:rPr>
              <a:t>Azure Project Refinement             Report</a:t>
            </a:r>
            <a:br>
              <a:rPr lang="en-US" dirty="0">
                <a:effectLst/>
              </a:rPr>
            </a:br>
            <a:r>
              <a:rPr lang="en-US" sz="2200" b="1" dirty="0">
                <a:effectLst/>
              </a:rPr>
              <a:t>Azure Infrastructure Deployment and Security Enhancement</a:t>
            </a:r>
            <a:endParaRPr lang="en-US" sz="2200" dirty="0"/>
          </a:p>
        </p:txBody>
      </p:sp>
      <p:sp>
        <p:nvSpPr>
          <p:cNvPr id="3" name="Subtitle 2">
            <a:extLst>
              <a:ext uri="{FF2B5EF4-FFF2-40B4-BE49-F238E27FC236}">
                <a16:creationId xmlns:a16="http://schemas.microsoft.com/office/drawing/2014/main" id="{3B6EF0C3-79F3-05AE-6B7B-35EF949AE1F8}"/>
              </a:ext>
            </a:extLst>
          </p:cNvPr>
          <p:cNvSpPr>
            <a:spLocks noGrp="1"/>
          </p:cNvSpPr>
          <p:nvPr>
            <p:ph type="subTitle" idx="1"/>
          </p:nvPr>
        </p:nvSpPr>
        <p:spPr>
          <a:xfrm>
            <a:off x="674557" y="3429000"/>
            <a:ext cx="10967803" cy="1655762"/>
          </a:xfrm>
        </p:spPr>
        <p:txBody>
          <a:bodyPr>
            <a:normAutofit fontScale="47500" lnSpcReduction="20000"/>
          </a:bodyPr>
          <a:lstStyle/>
          <a:p>
            <a:r>
              <a:rPr lang="en-US" sz="3100" b="1" dirty="0">
                <a:effectLst/>
              </a:rPr>
              <a:t>                                                                                                         By</a:t>
            </a:r>
          </a:p>
          <a:p>
            <a:r>
              <a:rPr lang="en-US" sz="3100" b="1" dirty="0">
                <a:effectLst/>
              </a:rPr>
              <a:t>                                                                                           Ubong Stephen Esu</a:t>
            </a:r>
            <a:endParaRPr lang="en-US" sz="3100" dirty="0">
              <a:effectLst/>
            </a:endParaRPr>
          </a:p>
          <a:p>
            <a:r>
              <a:rPr lang="en-US" sz="3800" b="1" dirty="0">
                <a:effectLst/>
              </a:rPr>
              <a:t>                                                              Course:</a:t>
            </a:r>
            <a:r>
              <a:rPr lang="en-US" sz="3800" dirty="0">
                <a:effectLst/>
              </a:rPr>
              <a:t> Information Technology</a:t>
            </a:r>
          </a:p>
          <a:p>
            <a:r>
              <a:rPr lang="en-US" sz="2800" b="1" dirty="0">
                <a:effectLst/>
              </a:rPr>
              <a:t>                                              </a:t>
            </a:r>
            <a:r>
              <a:rPr lang="en-US" sz="5100" b="1" dirty="0">
                <a:effectLst/>
              </a:rPr>
              <a:t>Project:</a:t>
            </a:r>
            <a:r>
              <a:rPr lang="en-US" sz="5100" dirty="0">
                <a:effectLst/>
              </a:rPr>
              <a:t> Microsoft Azure Infrastructure Deployment</a:t>
            </a:r>
          </a:p>
          <a:p>
            <a:endParaRPr lang="en-US" dirty="0"/>
          </a:p>
        </p:txBody>
      </p:sp>
    </p:spTree>
    <p:extLst>
      <p:ext uri="{BB962C8B-B14F-4D97-AF65-F5344CB8AC3E}">
        <p14:creationId xmlns:p14="http://schemas.microsoft.com/office/powerpoint/2010/main" val="2411676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8450E-B44F-2075-C8A7-A5A611FB2CA3}"/>
              </a:ext>
            </a:extLst>
          </p:cNvPr>
          <p:cNvSpPr>
            <a:spLocks noGrp="1"/>
          </p:cNvSpPr>
          <p:nvPr>
            <p:ph type="title"/>
          </p:nvPr>
        </p:nvSpPr>
        <p:spPr>
          <a:xfrm>
            <a:off x="1141413" y="0"/>
            <a:ext cx="9905998" cy="1478570"/>
          </a:xfrm>
        </p:spPr>
        <p:txBody>
          <a:bodyPr/>
          <a:lstStyle/>
          <a:p>
            <a:pPr algn="ctr"/>
            <a:r>
              <a:rPr lang="en-US" dirty="0">
                <a:solidFill>
                  <a:srgbClr val="FF0000"/>
                </a:solidFill>
                <a:latin typeface="Aptos" panose="020B0004020202020204" pitchFamily="34" charset="0"/>
              </a:rPr>
              <a:t>Table Of Contents</a:t>
            </a:r>
          </a:p>
        </p:txBody>
      </p:sp>
      <p:sp>
        <p:nvSpPr>
          <p:cNvPr id="3" name="TextBox 2">
            <a:extLst>
              <a:ext uri="{FF2B5EF4-FFF2-40B4-BE49-F238E27FC236}">
                <a16:creationId xmlns:a16="http://schemas.microsoft.com/office/drawing/2014/main" id="{0BACDEBF-8ADF-72B1-95C3-A6584B41BE9D}"/>
              </a:ext>
            </a:extLst>
          </p:cNvPr>
          <p:cNvSpPr txBox="1"/>
          <p:nvPr/>
        </p:nvSpPr>
        <p:spPr>
          <a:xfrm>
            <a:off x="1141413" y="1367057"/>
            <a:ext cx="10236121" cy="7263527"/>
          </a:xfrm>
          <a:prstGeom prst="rect">
            <a:avLst/>
          </a:prstGeom>
          <a:noFill/>
        </p:spPr>
        <p:txBody>
          <a:bodyPr wrap="square" rtlCol="0">
            <a:spAutoFit/>
          </a:bodyPr>
          <a:lstStyle/>
          <a:p>
            <a:pPr marL="342900" indent="-342900">
              <a:buAutoNum type="arabicPeriod"/>
            </a:pPr>
            <a:r>
              <a:rPr lang="en-US" sz="2800" dirty="0">
                <a:latin typeface="Aptos" panose="020B0004020202020204" pitchFamily="34" charset="0"/>
              </a:rPr>
              <a:t>Executive Summary</a:t>
            </a:r>
          </a:p>
          <a:p>
            <a:pPr marL="342900" indent="-342900">
              <a:buAutoNum type="arabicPeriod"/>
            </a:pPr>
            <a:r>
              <a:rPr lang="en-US" sz="2800" dirty="0">
                <a:latin typeface="Aptos" panose="020B0004020202020204" pitchFamily="34" charset="0"/>
              </a:rPr>
              <a:t>Project Objective</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Technical Challenges Encountered</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Project Refinements</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Ethical Considerations</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Impact of the Refinements</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Professional Growth</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Lessons learned</a:t>
            </a:r>
          </a:p>
          <a:p>
            <a:pPr marL="342900" indent="-342900">
              <a:buFontTx/>
              <a:buAutoNum type="arabicPeriod"/>
            </a:pPr>
            <a:r>
              <a:rPr lang="en-US" sz="2800" kern="100" dirty="0">
                <a:latin typeface="Aptos" panose="020B0004020202020204" pitchFamily="34" charset="0"/>
                <a:ea typeface="Aptos" panose="020B0004020202020204" pitchFamily="34" charset="0"/>
                <a:cs typeface="Times New Roman" panose="02020603050405020304" pitchFamily="18" charset="0"/>
              </a:rPr>
              <a:t>Conclusion</a:t>
            </a:r>
          </a:p>
          <a:p>
            <a:pPr marL="342900" indent="-342900">
              <a:buFontTx/>
              <a:buAutoNum type="arabicPeriod"/>
            </a:pPr>
            <a:r>
              <a:rPr lang="en-US" sz="2800" dirty="0">
                <a:latin typeface="Aptos" panose="020B0004020202020204" pitchFamily="34" charset="0"/>
              </a:rPr>
              <a:t>References</a:t>
            </a:r>
            <a:endParaRPr lang="en-US" sz="28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FontTx/>
              <a:buAutoNum type="arabicPeriod"/>
            </a:pPr>
            <a:endParaRPr lang="en-US" sz="28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FontTx/>
              <a:buAutoNum type="arabicPeriod"/>
            </a:pPr>
            <a:endParaRPr lang="en-US" sz="28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FontTx/>
              <a:buAutoNum type="arabicPeriod"/>
            </a:pPr>
            <a:endParaRPr lang="en-US" sz="2800" b="1"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FontTx/>
              <a:buAutoNum type="arabicPeriod"/>
            </a:pPr>
            <a:endParaRPr lang="en-US" sz="28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FontTx/>
              <a:buAutoNum type="arabicPeriod"/>
            </a:pPr>
            <a:endParaRPr lang="en-US" sz="2800" b="1"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buAutoNum type="arabicPeriod"/>
            </a:pPr>
            <a:endParaRPr lang="en-US" sz="2800" dirty="0"/>
          </a:p>
          <a:p>
            <a:pPr marL="342900" indent="-342900">
              <a:buAutoNum type="arabicPeriod"/>
            </a:pPr>
            <a:endParaRPr lang="en-US" dirty="0"/>
          </a:p>
        </p:txBody>
      </p:sp>
    </p:spTree>
    <p:extLst>
      <p:ext uri="{BB962C8B-B14F-4D97-AF65-F5344CB8AC3E}">
        <p14:creationId xmlns:p14="http://schemas.microsoft.com/office/powerpoint/2010/main" val="2617856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3F22-BF0C-022C-7AEA-627036B7699E}"/>
              </a:ext>
            </a:extLst>
          </p:cNvPr>
          <p:cNvSpPr>
            <a:spLocks noGrp="1"/>
          </p:cNvSpPr>
          <p:nvPr>
            <p:ph type="title"/>
          </p:nvPr>
        </p:nvSpPr>
        <p:spPr>
          <a:xfrm>
            <a:off x="1245433" y="252027"/>
            <a:ext cx="9905998" cy="1478570"/>
          </a:xfrm>
        </p:spPr>
        <p:txBody>
          <a:bodyPr>
            <a:normAutofit/>
          </a:bodyPr>
          <a:lstStyle/>
          <a:p>
            <a:pPr algn="ctr"/>
            <a:r>
              <a:rPr lang="en-US" sz="4000" b="1" dirty="0">
                <a:solidFill>
                  <a:srgbClr val="FF0000"/>
                </a:solidFill>
                <a:effectLst/>
                <a:latin typeface="Aptos" panose="020B0004020202020204" pitchFamily="34" charset="0"/>
              </a:rPr>
              <a:t>Executive Summary</a:t>
            </a:r>
            <a:br>
              <a:rPr lang="en-US" sz="4000" dirty="0">
                <a:effectLst/>
              </a:rPr>
            </a:br>
            <a:endParaRPr lang="en-US" sz="4000" dirty="0"/>
          </a:p>
        </p:txBody>
      </p:sp>
      <p:sp>
        <p:nvSpPr>
          <p:cNvPr id="3" name="TextBox 2">
            <a:extLst>
              <a:ext uri="{FF2B5EF4-FFF2-40B4-BE49-F238E27FC236}">
                <a16:creationId xmlns:a16="http://schemas.microsoft.com/office/drawing/2014/main" id="{9B1B8CF5-21E0-90DB-2325-94AFCF2DBFF4}"/>
              </a:ext>
            </a:extLst>
          </p:cNvPr>
          <p:cNvSpPr txBox="1"/>
          <p:nvPr/>
        </p:nvSpPr>
        <p:spPr>
          <a:xfrm>
            <a:off x="569626" y="1364105"/>
            <a:ext cx="11257613" cy="4832092"/>
          </a:xfrm>
          <a:prstGeom prst="rect">
            <a:avLst/>
          </a:prstGeom>
          <a:noFill/>
        </p:spPr>
        <p:txBody>
          <a:bodyPr wrap="square" rtlCol="0">
            <a:spAutoFit/>
          </a:bodyPr>
          <a:lstStyle/>
          <a:p>
            <a:r>
              <a:rPr lang="en-US" sz="2200" dirty="0">
                <a:latin typeface="Aptos" panose="020B0004020202020204" pitchFamily="34" charset="0"/>
              </a:rPr>
              <a:t>The purpose of this project was to design and implement a secure cloud infrastructure using Microsoft Azure for a fictional organization, Ensign Technologies. The project required creating organizational resource groups, configuring Microsoft Entra ID users and security groups, provisioning Azure Storage resources, assigning role-based access permissions, and preparing the environment for future virtual machine deployment.</a:t>
            </a:r>
          </a:p>
          <a:p>
            <a:endParaRPr lang="en-US" sz="2200" dirty="0">
              <a:latin typeface="Aptos" panose="020B0004020202020204" pitchFamily="34" charset="0"/>
            </a:endParaRPr>
          </a:p>
          <a:p>
            <a:r>
              <a:rPr lang="en-US" sz="2200" dirty="0">
                <a:latin typeface="Aptos" panose="020B0004020202020204" pitchFamily="34" charset="0"/>
              </a:rPr>
              <a:t>Throughout the project, I strengthened my understanding of cloud administration while gaining practical experience with Azure governance, identity management, storage security, and access control. I also learned that successful cloud deployments require careful planning, continuous testing, and ethical decision-making to protect organizational data.</a:t>
            </a:r>
          </a:p>
          <a:p>
            <a:endParaRPr lang="en-US" sz="2200" dirty="0">
              <a:latin typeface="Aptos" panose="020B0004020202020204" pitchFamily="34" charset="0"/>
            </a:endParaRPr>
          </a:p>
          <a:p>
            <a:r>
              <a:rPr lang="en-US" sz="2200" dirty="0">
                <a:latin typeface="Aptos" panose="020B0004020202020204" pitchFamily="34" charset="0"/>
              </a:rPr>
              <a:t>After evaluating my original implementation, I identified several areas for improvement, including permission management, security practices, documentation, and deployment planning. These refinements increased both the security and reliability of the environment</a:t>
            </a:r>
            <a:r>
              <a:rPr lang="en-US" sz="2200" dirty="0"/>
              <a:t>.</a:t>
            </a:r>
          </a:p>
        </p:txBody>
      </p:sp>
    </p:spTree>
    <p:extLst>
      <p:ext uri="{BB962C8B-B14F-4D97-AF65-F5344CB8AC3E}">
        <p14:creationId xmlns:p14="http://schemas.microsoft.com/office/powerpoint/2010/main" val="352451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8DF5-0B8C-5483-B727-A2AC32F39157}"/>
              </a:ext>
            </a:extLst>
          </p:cNvPr>
          <p:cNvSpPr>
            <a:spLocks noGrp="1"/>
          </p:cNvSpPr>
          <p:nvPr>
            <p:ph type="title"/>
          </p:nvPr>
        </p:nvSpPr>
        <p:spPr>
          <a:xfrm>
            <a:off x="1143001" y="0"/>
            <a:ext cx="9905998" cy="1478570"/>
          </a:xfrm>
        </p:spPr>
        <p:txBody>
          <a:bodyPr/>
          <a:lstStyle/>
          <a:p>
            <a:pPr algn="ctr"/>
            <a:r>
              <a:rPr lang="en-US" sz="4000" b="1" dirty="0">
                <a:solidFill>
                  <a:srgbClr val="FF0000"/>
                </a:solidFill>
                <a:effectLst/>
                <a:latin typeface="Aptos" panose="020B0004020202020204" pitchFamily="34" charset="0"/>
              </a:rPr>
              <a:t>Original Project Objectives</a:t>
            </a:r>
            <a:br>
              <a:rPr lang="en-US" dirty="0">
                <a:effectLst/>
                <a:latin typeface="Aptos" panose="020B0004020202020204" pitchFamily="34" charset="0"/>
              </a:rPr>
            </a:br>
            <a:endParaRPr lang="en-US" dirty="0">
              <a:latin typeface="Aptos" panose="020B0004020202020204" pitchFamily="34" charset="0"/>
            </a:endParaRPr>
          </a:p>
        </p:txBody>
      </p:sp>
      <p:sp>
        <p:nvSpPr>
          <p:cNvPr id="3" name="TextBox 2">
            <a:extLst>
              <a:ext uri="{FF2B5EF4-FFF2-40B4-BE49-F238E27FC236}">
                <a16:creationId xmlns:a16="http://schemas.microsoft.com/office/drawing/2014/main" id="{3E291023-B1E6-FABD-94D5-3CD9B7AAF8ED}"/>
              </a:ext>
            </a:extLst>
          </p:cNvPr>
          <p:cNvSpPr txBox="1"/>
          <p:nvPr/>
        </p:nvSpPr>
        <p:spPr>
          <a:xfrm>
            <a:off x="1618938" y="391662"/>
            <a:ext cx="10423161" cy="6124754"/>
          </a:xfrm>
          <a:prstGeom prst="rect">
            <a:avLst/>
          </a:prstGeom>
          <a:noFill/>
        </p:spPr>
        <p:txBody>
          <a:bodyPr wrap="square" rtlCol="0">
            <a:spAutoFit/>
          </a:bodyPr>
          <a:lstStyle/>
          <a:p>
            <a:endParaRPr lang="en-US" sz="2800" i="1" dirty="0"/>
          </a:p>
          <a:p>
            <a:r>
              <a:rPr lang="en-US" sz="2800" i="1" dirty="0">
                <a:latin typeface="Aptos" panose="020B0004020202020204" pitchFamily="34" charset="0"/>
              </a:rPr>
              <a:t>The project was designed to accomplish the following objectives:</a:t>
            </a:r>
          </a:p>
          <a:p>
            <a:pPr marL="342900" lvl="0" indent="-342900">
              <a:buFont typeface="Wingdings" panose="05000000000000000000" pitchFamily="2" charset="2"/>
              <a:buChar char="q"/>
            </a:pPr>
            <a:endParaRPr lang="en-US" sz="2800" dirty="0">
              <a:latin typeface="Aptos" panose="020B0004020202020204" pitchFamily="34" charset="0"/>
            </a:endParaRPr>
          </a:p>
          <a:p>
            <a:pPr marL="457200" lvl="0" indent="-457200">
              <a:buFont typeface="Wingdings" panose="05000000000000000000" pitchFamily="2" charset="2"/>
              <a:buChar char="q"/>
            </a:pPr>
            <a:r>
              <a:rPr lang="en-US" sz="2800" dirty="0">
                <a:latin typeface="Aptos" panose="020B0004020202020204" pitchFamily="34" charset="0"/>
              </a:rPr>
              <a:t>Create Azure Resource Groups to organize company resources.</a:t>
            </a:r>
          </a:p>
          <a:p>
            <a:pPr marL="342900" lvl="0" indent="-342900">
              <a:buFont typeface="Wingdings" panose="05000000000000000000" pitchFamily="2" charset="2"/>
              <a:buChar char="q"/>
            </a:pPr>
            <a:r>
              <a:rPr lang="en-US" sz="2800" dirty="0">
                <a:latin typeface="Aptos" panose="020B0004020202020204" pitchFamily="34" charset="0"/>
              </a:rPr>
              <a:t>Configure Microsoft Entra ID users and departmental groups.</a:t>
            </a:r>
          </a:p>
          <a:p>
            <a:pPr marL="342900" lvl="0" indent="-342900">
              <a:buFont typeface="Wingdings" panose="05000000000000000000" pitchFamily="2" charset="2"/>
              <a:buChar char="q"/>
            </a:pPr>
            <a:r>
              <a:rPr lang="en-US" sz="2800" dirty="0">
                <a:latin typeface="Aptos" panose="020B0004020202020204" pitchFamily="34" charset="0"/>
              </a:rPr>
              <a:t>Create Azure Storage resources for multiple departments.</a:t>
            </a:r>
          </a:p>
          <a:p>
            <a:pPr marL="342900" lvl="0" indent="-342900">
              <a:buFont typeface="Wingdings" panose="05000000000000000000" pitchFamily="2" charset="2"/>
              <a:buChar char="q"/>
            </a:pPr>
            <a:r>
              <a:rPr lang="en-US" sz="2800" dirty="0">
                <a:latin typeface="Aptos" panose="020B0004020202020204" pitchFamily="34" charset="0"/>
              </a:rPr>
              <a:t>Allocate storage resources for Sales and Marketing, Engineering, </a:t>
            </a:r>
          </a:p>
          <a:p>
            <a:pPr lvl="0"/>
            <a:r>
              <a:rPr lang="en-US" sz="2800" dirty="0">
                <a:latin typeface="Aptos" panose="020B0004020202020204" pitchFamily="34" charset="0"/>
              </a:rPr>
              <a:t>and Customer Success.</a:t>
            </a:r>
          </a:p>
          <a:p>
            <a:pPr marL="342900" lvl="0" indent="-342900">
              <a:buFont typeface="Wingdings" panose="05000000000000000000" pitchFamily="2" charset="2"/>
              <a:buChar char="q"/>
            </a:pPr>
            <a:r>
              <a:rPr lang="en-US" sz="2800" dirty="0">
                <a:latin typeface="Aptos" panose="020B0004020202020204" pitchFamily="34" charset="0"/>
              </a:rPr>
              <a:t>Restrict access using Azure Role-Based Access Control (RBAC).</a:t>
            </a:r>
          </a:p>
          <a:p>
            <a:pPr marL="342900" lvl="0" indent="-342900">
              <a:buFont typeface="Wingdings" panose="05000000000000000000" pitchFamily="2" charset="2"/>
              <a:buChar char="q"/>
            </a:pPr>
            <a:r>
              <a:rPr lang="en-US" sz="2800" dirty="0">
                <a:latin typeface="Aptos" panose="020B0004020202020204" pitchFamily="34" charset="0"/>
              </a:rPr>
              <a:t>Prepare infrastructure for future virtual machine deployment.</a:t>
            </a:r>
          </a:p>
          <a:p>
            <a:pPr marL="342900" lvl="0" indent="-342900">
              <a:buFont typeface="Wingdings" panose="05000000000000000000" pitchFamily="2" charset="2"/>
              <a:buChar char="q"/>
            </a:pPr>
            <a:r>
              <a:rPr lang="en-US" sz="2800" dirty="0">
                <a:latin typeface="Aptos" panose="020B0004020202020204" pitchFamily="34" charset="0"/>
              </a:rPr>
              <a:t>Demonstrate secure cloud administration practices.</a:t>
            </a:r>
          </a:p>
          <a:p>
            <a:pPr lvl="0"/>
            <a:endParaRPr lang="en-US" sz="2800" dirty="0">
              <a:latin typeface="Aptos" panose="020B0004020202020204" pitchFamily="34" charset="0"/>
            </a:endParaRPr>
          </a:p>
          <a:p>
            <a:pPr lvl="0"/>
            <a:r>
              <a:rPr lang="en-US" sz="2800" dirty="0">
                <a:latin typeface="Aptos" panose="020B0004020202020204" pitchFamily="34" charset="0"/>
              </a:rPr>
              <a:t>These objectives reflected many of the responsibilities performed by real-world Azure administrators</a:t>
            </a:r>
          </a:p>
        </p:txBody>
      </p:sp>
    </p:spTree>
    <p:extLst>
      <p:ext uri="{BB962C8B-B14F-4D97-AF65-F5344CB8AC3E}">
        <p14:creationId xmlns:p14="http://schemas.microsoft.com/office/powerpoint/2010/main" val="2518865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76AD9-71DE-3D42-D8B9-63B4895FBC05}"/>
              </a:ext>
            </a:extLst>
          </p:cNvPr>
          <p:cNvSpPr txBox="1"/>
          <p:nvPr/>
        </p:nvSpPr>
        <p:spPr>
          <a:xfrm>
            <a:off x="479685" y="164893"/>
            <a:ext cx="11017770" cy="6133987"/>
          </a:xfrm>
          <a:prstGeom prst="rect">
            <a:avLst/>
          </a:prstGeom>
          <a:noFill/>
        </p:spPr>
        <p:txBody>
          <a:bodyPr wrap="square">
            <a:spAutoFit/>
          </a:bodyPr>
          <a:lstStyle/>
          <a:p>
            <a:pPr marL="0" marR="0" algn="ctr">
              <a:lnSpc>
                <a:spcPct val="115000"/>
              </a:lnSpc>
              <a:spcAft>
                <a:spcPts val="800"/>
              </a:spcAft>
              <a:buNone/>
            </a:pPr>
            <a:r>
              <a:rPr lang="en-US" sz="2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Technical Challenges Encountered</a:t>
            </a:r>
          </a:p>
          <a:p>
            <a:pPr marL="0" marR="0">
              <a:lnSpc>
                <a:spcPct val="115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During implementation, I encountered several technical challenges that required research, troubleshooting, and persistence.</a:t>
            </a:r>
          </a:p>
          <a:p>
            <a:pPr marL="0" marR="0">
              <a:lnSpc>
                <a:spcPct val="115000"/>
              </a:lnSpc>
              <a:spcAft>
                <a:spcPts val="800"/>
              </a:spcAft>
              <a:buNone/>
            </a:pPr>
            <a:r>
              <a:rPr lang="en-US"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Challenge 1</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Azure Subscription and Sandbox Access</a:t>
            </a:r>
            <a:endParaRPr lang="en-US" sz="2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Initially, I experienced difficulty accessing the required Azure subscription because my personal Azure account did not have an active subscription in the default directory. This prevented me from creating resources until I verified my student account and gained access to the appropriate environment.</a:t>
            </a:r>
          </a:p>
          <a:p>
            <a:pPr marL="0" marR="0">
              <a:lnSpc>
                <a:spcPct val="115000"/>
              </a:lnSpc>
              <a:spcAft>
                <a:spcPts val="800"/>
              </a:spcAft>
              <a:buNone/>
            </a:pPr>
            <a:r>
              <a:rPr lang="en-US"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Resolution</a:t>
            </a:r>
            <a:endParaRPr lang="en-US" sz="2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sz="2400" dirty="0">
                <a:effectLst/>
                <a:latin typeface="Aptos" panose="020B0004020202020204" pitchFamily="34" charset="0"/>
                <a:ea typeface="Aptos" panose="020B0004020202020204" pitchFamily="34" charset="0"/>
                <a:cs typeface="Times New Roman" panose="02020603050405020304" pitchFamily="18" charset="0"/>
              </a:rPr>
              <a:t>I worked through the account verification process, selected the correct Azure directory, and ensured that I was operating within the proper subscription before continuing with the project</a:t>
            </a:r>
            <a:endParaRPr lang="en-US" sz="2400" dirty="0"/>
          </a:p>
        </p:txBody>
      </p:sp>
    </p:spTree>
    <p:extLst>
      <p:ext uri="{BB962C8B-B14F-4D97-AF65-F5344CB8AC3E}">
        <p14:creationId xmlns:p14="http://schemas.microsoft.com/office/powerpoint/2010/main" val="62462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E530D1-C001-9F8A-8A5A-313FD70CE65E}"/>
              </a:ext>
            </a:extLst>
          </p:cNvPr>
          <p:cNvSpPr txBox="1"/>
          <p:nvPr/>
        </p:nvSpPr>
        <p:spPr>
          <a:xfrm>
            <a:off x="999344" y="81390"/>
            <a:ext cx="10193311" cy="3106300"/>
          </a:xfrm>
          <a:prstGeom prst="rect">
            <a:avLst/>
          </a:prstGeom>
          <a:noFill/>
        </p:spPr>
        <p:txBody>
          <a:bodyPr wrap="square">
            <a:spAutoFit/>
          </a:bodyPr>
          <a:lstStyle/>
          <a:p>
            <a:pPr marL="0" marR="0">
              <a:lnSpc>
                <a:spcPct val="115000"/>
              </a:lnSpc>
              <a:spcAft>
                <a:spcPts val="800"/>
              </a:spcAft>
              <a:buNone/>
            </a:pPr>
            <a:r>
              <a:rPr lang="en-US"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Challenge 2: Azure Policy Restrictions</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When creating Azure resources, deployment validation failed because organizational policies restricted resource creation in certain regions.</a:t>
            </a:r>
          </a:p>
          <a:p>
            <a:pPr marL="0" marR="0">
              <a:lnSpc>
                <a:spcPct val="115000"/>
              </a:lnSpc>
              <a:spcAft>
                <a:spcPts val="800"/>
              </a:spcAft>
              <a:buNone/>
            </a:pPr>
            <a:r>
              <a:rPr lang="en-US"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Resolution</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After reviewing the deployment error, I selected an approved Azure region that complied with the organization's policy requirements. This experience taught me how Azure Policy enforces governance and organizational standards.</a:t>
            </a:r>
          </a:p>
        </p:txBody>
      </p:sp>
      <p:sp>
        <p:nvSpPr>
          <p:cNvPr id="6" name="TextBox 5">
            <a:extLst>
              <a:ext uri="{FF2B5EF4-FFF2-40B4-BE49-F238E27FC236}">
                <a16:creationId xmlns:a16="http://schemas.microsoft.com/office/drawing/2014/main" id="{606D8C5F-132E-5B2C-E035-66118E96F44F}"/>
              </a:ext>
            </a:extLst>
          </p:cNvPr>
          <p:cNvSpPr txBox="1"/>
          <p:nvPr/>
        </p:nvSpPr>
        <p:spPr>
          <a:xfrm>
            <a:off x="999344" y="3410262"/>
            <a:ext cx="10193310" cy="3311676"/>
          </a:xfrm>
          <a:prstGeom prst="rect">
            <a:avLst/>
          </a:prstGeom>
          <a:noFill/>
        </p:spPr>
        <p:txBody>
          <a:bodyPr wrap="square">
            <a:spAutoFit/>
          </a:bodyPr>
          <a:lstStyle/>
          <a:p>
            <a:pPr marL="0" marR="0">
              <a:lnSpc>
                <a:spcPct val="115000"/>
              </a:lnSpc>
              <a:spcAft>
                <a:spcPts val="800"/>
              </a:spcAft>
              <a:buNone/>
            </a:pPr>
            <a:r>
              <a:rPr lang="en-US"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Challenge 3: Understanding Azure Storage Options</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Choosing among different storage redundancy options, managed disks, and performance tiers was initially confusing.</a:t>
            </a:r>
          </a:p>
          <a:p>
            <a:pPr marL="0" marR="0">
              <a:lnSpc>
                <a:spcPct val="115000"/>
              </a:lnSpc>
              <a:spcAft>
                <a:spcPts val="800"/>
              </a:spcAft>
              <a:buNone/>
            </a:pPr>
            <a:r>
              <a:rPr lang="en-US" sz="2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Resolution</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sz="2200" dirty="0">
                <a:effectLst/>
                <a:latin typeface="Aptos" panose="020B0004020202020204" pitchFamily="34" charset="0"/>
                <a:ea typeface="Aptos" panose="020B0004020202020204" pitchFamily="34" charset="0"/>
                <a:cs typeface="Times New Roman" panose="02020603050405020304" pitchFamily="18" charset="0"/>
              </a:rPr>
              <a:t>I researched Azure storage redundancy models, including Locally Redundant Storage (LRS), Geo-Redundant Storage (GRS), and Geo-Zone-Redundant Storage (GZRS). This improved my understanding of balancing cost, availability, durability, and disaster recovery requirements</a:t>
            </a:r>
            <a:endParaRPr lang="en-US" sz="2200" dirty="0"/>
          </a:p>
        </p:txBody>
      </p:sp>
    </p:spTree>
    <p:extLst>
      <p:ext uri="{BB962C8B-B14F-4D97-AF65-F5344CB8AC3E}">
        <p14:creationId xmlns:p14="http://schemas.microsoft.com/office/powerpoint/2010/main" val="3140185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10B2D5-480A-86D9-9F90-F5321771F632}"/>
              </a:ext>
            </a:extLst>
          </p:cNvPr>
          <p:cNvSpPr txBox="1"/>
          <p:nvPr/>
        </p:nvSpPr>
        <p:spPr>
          <a:xfrm>
            <a:off x="184879" y="0"/>
            <a:ext cx="11522439" cy="3214213"/>
          </a:xfrm>
          <a:prstGeom prst="rect">
            <a:avLst/>
          </a:prstGeom>
          <a:noFill/>
        </p:spPr>
        <p:txBody>
          <a:bodyPr wrap="square">
            <a:spAutoFit/>
          </a:bodyPr>
          <a:lstStyle/>
          <a:p>
            <a:pPr marL="0" marR="0">
              <a:lnSpc>
                <a:spcPct val="115000"/>
              </a:lnSpc>
              <a:spcAft>
                <a:spcPts val="800"/>
              </a:spcAft>
              <a:buNone/>
            </a:pPr>
            <a:r>
              <a:rPr lang="en-US"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Challenge 4: Role-Based Access Control</a:t>
            </a:r>
            <a:endParaRPr lang="en-US"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Configuring storage permissions so that each department could access only its assigned resources required careful planning.</a:t>
            </a:r>
          </a:p>
          <a:p>
            <a:pPr marL="0" marR="0">
              <a:lnSpc>
                <a:spcPct val="115000"/>
              </a:lnSpc>
              <a:spcAft>
                <a:spcPts val="800"/>
              </a:spcAft>
              <a:buNone/>
            </a:pPr>
            <a:r>
              <a:rPr lang="en-US"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Resolution</a:t>
            </a:r>
            <a:endParaRPr lang="en-US"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 implemented Azure Role-Based Access Control (RBAC) using Microsoft Entra ID security groups. Instead of assigning permissions directly to individual users, permissions were assigned to departmental groups. This approach simplifies administration, supports scalability, and follows industry best practices.</a:t>
            </a:r>
          </a:p>
        </p:txBody>
      </p:sp>
      <p:sp>
        <p:nvSpPr>
          <p:cNvPr id="7" name="TextBox 6">
            <a:extLst>
              <a:ext uri="{FF2B5EF4-FFF2-40B4-BE49-F238E27FC236}">
                <a16:creationId xmlns:a16="http://schemas.microsoft.com/office/drawing/2014/main" id="{35BA86F8-5E8C-B43D-5CF4-91150B041856}"/>
              </a:ext>
            </a:extLst>
          </p:cNvPr>
          <p:cNvSpPr txBox="1"/>
          <p:nvPr/>
        </p:nvSpPr>
        <p:spPr>
          <a:xfrm>
            <a:off x="334781" y="3214213"/>
            <a:ext cx="11522438" cy="3978525"/>
          </a:xfrm>
          <a:prstGeom prst="rect">
            <a:avLst/>
          </a:prstGeom>
          <a:noFill/>
        </p:spPr>
        <p:txBody>
          <a:bodyPr wrap="square">
            <a:spAutoFit/>
          </a:bodyPr>
          <a:lstStyle/>
          <a:p>
            <a:pPr marL="0" marR="0">
              <a:lnSpc>
                <a:spcPct val="115000"/>
              </a:lnSpc>
              <a:spcAft>
                <a:spcPts val="800"/>
              </a:spcAft>
              <a:buNone/>
            </a:pPr>
            <a:r>
              <a:rPr lang="en-US"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Project Refinements</a:t>
            </a:r>
            <a:endParaRPr lang="en-US"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After completing the original deployment, I identified several improvements that enhanced the project's quality.</a:t>
            </a:r>
          </a:p>
          <a:p>
            <a:pPr marL="0" marR="0">
              <a:lnSpc>
                <a:spcPct val="115000"/>
              </a:lnSpc>
              <a:spcAft>
                <a:spcPts val="800"/>
              </a:spcAft>
              <a:buNone/>
            </a:pPr>
            <a:r>
              <a:rPr lang="en-US"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Refinement 1: Strengthening Access Control</a:t>
            </a:r>
            <a:endParaRPr lang="en-US"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Originally, permissions could have been assigned directly to users.</a:t>
            </a:r>
          </a:p>
          <a:p>
            <a:pPr marL="0" marR="0">
              <a:lnSpc>
                <a:spcPct val="115000"/>
              </a:lnSpc>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refined solution assigns permissions to Microsoft Entra ID security groups.</a:t>
            </a:r>
          </a:p>
          <a:p>
            <a:pPr marL="0" marR="0">
              <a:lnSpc>
                <a:spcPct val="115000"/>
              </a:lnSpc>
              <a:spcAft>
                <a:spcPts val="800"/>
              </a:spcAft>
              <a:buNone/>
            </a:pPr>
            <a:r>
              <a:rPr lang="en-US" sz="20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Benefits</a:t>
            </a:r>
            <a:endParaRPr lang="en-US" sz="20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Arial" panose="020B0604020202020204" pitchFamily="34" charset="0"/>
              <a:buChar char="•"/>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Easier administration</a:t>
            </a:r>
            <a:r>
              <a:rPr lang="en-US" sz="2000" kern="100" dirty="0">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Reduced configuration errors and </a:t>
            </a:r>
            <a:r>
              <a:rPr lang="en-US" sz="2000" dirty="0">
                <a:latin typeface="Aptos" panose="020B0004020202020204" pitchFamily="34" charset="0"/>
              </a:rPr>
              <a:t>Better scalability</a:t>
            </a:r>
          </a:p>
          <a:p>
            <a:pPr marL="342900" marR="0" lvl="0" indent="-342900">
              <a:lnSpc>
                <a:spcPct val="115000"/>
              </a:lnSpc>
              <a:spcAft>
                <a:spcPts val="800"/>
              </a:spcAft>
              <a:buSzPts val="1000"/>
              <a:buFont typeface="Arial" panose="020B0604020202020204" pitchFamily="34" charset="0"/>
              <a:buChar char="•"/>
              <a:tabLst>
                <a:tab pos="457200" algn="l"/>
              </a:tabLst>
            </a:pP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6307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D1447-3F89-B615-9EBD-5574F9B90AE9}"/>
              </a:ext>
            </a:extLst>
          </p:cNvPr>
          <p:cNvSpPr txBox="1"/>
          <p:nvPr/>
        </p:nvSpPr>
        <p:spPr>
          <a:xfrm>
            <a:off x="659567" y="190478"/>
            <a:ext cx="10193312" cy="3457485"/>
          </a:xfrm>
          <a:prstGeom prst="rect">
            <a:avLst/>
          </a:prstGeom>
          <a:noFill/>
        </p:spPr>
        <p:txBody>
          <a:bodyPr wrap="square">
            <a:spAutoFit/>
          </a:bodyPr>
          <a:lstStyle/>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Refinement 2: Applying the Principle of Least Privilege</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Instead of granting broad administrative permissions, each department now receives only the minimum level of access required to perform its responsibilities.</a:t>
            </a: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Examples include: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Sales and Marketing access only to Sales storage, Engineering access only to Engineering storage</a:t>
            </a:r>
            <a:r>
              <a:rPr lang="en-US" sz="2100" kern="100" dirty="0">
                <a:latin typeface="Aptos" panose="020B0004020202020204" pitchFamily="34" charset="0"/>
                <a:ea typeface="Aptos" panose="020B0004020202020204" pitchFamily="34" charset="0"/>
                <a:cs typeface="Times New Roman" panose="02020603050405020304" pitchFamily="18" charset="0"/>
              </a:rPr>
              <a:t> and </a:t>
            </a:r>
            <a:r>
              <a:rPr lang="en-US" sz="2100" kern="100" dirty="0">
                <a:effectLst/>
                <a:latin typeface="Aptos" panose="020B0004020202020204" pitchFamily="34" charset="0"/>
                <a:ea typeface="Aptos" panose="020B0004020202020204" pitchFamily="34" charset="0"/>
                <a:cs typeface="Times New Roman" panose="02020603050405020304" pitchFamily="18" charset="0"/>
              </a:rPr>
              <a:t>Customer Success access only to Customer Success storage</a:t>
            </a:r>
          </a:p>
          <a:p>
            <a:pPr marR="0" lvl="0">
              <a:lnSpc>
                <a:spcPct val="115000"/>
              </a:lnSpc>
              <a:spcAft>
                <a:spcPts val="800"/>
              </a:spcAft>
              <a:buSzPts val="1000"/>
              <a:tabLst>
                <a:tab pos="457200" algn="l"/>
              </a:tabLst>
            </a:pPr>
            <a:r>
              <a:rPr lang="en-US" sz="2100" dirty="0">
                <a:latin typeface="Aptos" panose="020B0004020202020204" pitchFamily="34" charset="0"/>
              </a:rPr>
              <a:t>This refinement significantly reduces the organization's attack surface</a:t>
            </a:r>
            <a:endParaRPr lang="en-US" sz="2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2F86105-30FC-B9C3-E0C2-8EFDD43257D2}"/>
              </a:ext>
            </a:extLst>
          </p:cNvPr>
          <p:cNvSpPr txBox="1"/>
          <p:nvPr/>
        </p:nvSpPr>
        <p:spPr>
          <a:xfrm>
            <a:off x="659567" y="3647963"/>
            <a:ext cx="11287595" cy="3158300"/>
          </a:xfrm>
          <a:prstGeom prst="rect">
            <a:avLst/>
          </a:prstGeom>
          <a:noFill/>
        </p:spPr>
        <p:txBody>
          <a:bodyPr wrap="square">
            <a:spAutoFit/>
          </a:bodyPr>
          <a:lstStyle/>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Refinement 3: Improved Documentation</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I expanded the project documentation to include: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Resource naming conventions, Departmental access assignments</a:t>
            </a:r>
            <a:r>
              <a:rPr lang="en-US" sz="2100" kern="100" dirty="0">
                <a:latin typeface="Aptos" panose="020B0004020202020204" pitchFamily="34" charset="0"/>
                <a:ea typeface="Aptos" panose="020B0004020202020204" pitchFamily="34" charset="0"/>
                <a:cs typeface="Times New Roman" panose="02020603050405020304" pitchFamily="18" charset="0"/>
              </a:rPr>
              <a:t> with </a:t>
            </a:r>
            <a:r>
              <a:rPr lang="en-US" sz="2100" kern="100" dirty="0">
                <a:effectLst/>
                <a:latin typeface="Aptos" panose="020B0004020202020204" pitchFamily="34" charset="0"/>
                <a:ea typeface="Aptos" panose="020B0004020202020204" pitchFamily="34" charset="0"/>
                <a:cs typeface="Times New Roman" panose="02020603050405020304" pitchFamily="18" charset="0"/>
              </a:rPr>
              <a:t>Security configuration steps.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Deployment decisions and Troubleshooting notes.</a:t>
            </a:r>
          </a:p>
          <a:p>
            <a:pPr marR="0" lvl="0">
              <a:lnSpc>
                <a:spcPct val="115000"/>
              </a:lnSpc>
              <a:spcAft>
                <a:spcPts val="800"/>
              </a:spcAft>
              <a:buSzPts val="1000"/>
              <a:tabLst>
                <a:tab pos="457200" algn="l"/>
              </a:tabLst>
            </a:pPr>
            <a:r>
              <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Lessons learned</a:t>
            </a:r>
          </a:p>
          <a:p>
            <a:pPr>
              <a:buNone/>
            </a:pPr>
            <a:r>
              <a:rPr lang="en-US" sz="2100" dirty="0">
                <a:effectLst/>
                <a:latin typeface="Aptos" panose="020B0004020202020204" pitchFamily="34" charset="0"/>
                <a:ea typeface="Aptos" panose="020B0004020202020204" pitchFamily="34" charset="0"/>
                <a:cs typeface="Times New Roman" panose="02020603050405020304" pitchFamily="18" charset="0"/>
              </a:rPr>
              <a:t>Comprehensive documentation improves maintainability and simplifies future administration.</a:t>
            </a:r>
            <a:endParaRPr lang="en-US" sz="2100" dirty="0"/>
          </a:p>
        </p:txBody>
      </p:sp>
    </p:spTree>
    <p:extLst>
      <p:ext uri="{BB962C8B-B14F-4D97-AF65-F5344CB8AC3E}">
        <p14:creationId xmlns:p14="http://schemas.microsoft.com/office/powerpoint/2010/main" val="959028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803950-BAC7-2E8F-DE3F-2B7EBE3B3002}"/>
              </a:ext>
            </a:extLst>
          </p:cNvPr>
          <p:cNvSpPr txBox="1"/>
          <p:nvPr/>
        </p:nvSpPr>
        <p:spPr>
          <a:xfrm>
            <a:off x="392243" y="137971"/>
            <a:ext cx="11407515" cy="3291029"/>
          </a:xfrm>
          <a:prstGeom prst="rect">
            <a:avLst/>
          </a:prstGeom>
          <a:noFill/>
        </p:spPr>
        <p:txBody>
          <a:bodyPr wrap="square">
            <a:spAutoFit/>
          </a:bodyPr>
          <a:lstStyle/>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Refinement 4: Security Validation</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Before considering the deployment complete, I added verification procedures to confirm that: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Authorized users could access their assigned resources.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Unauthorized users were denied access.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RBAC assignments functioned correctly.</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Storage permissions matched organizational requirements.</a:t>
            </a: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Testing before deployment helps identify security issues early and reduces operational risk.</a:t>
            </a:r>
          </a:p>
        </p:txBody>
      </p:sp>
      <p:sp>
        <p:nvSpPr>
          <p:cNvPr id="5" name="TextBox 4">
            <a:extLst>
              <a:ext uri="{FF2B5EF4-FFF2-40B4-BE49-F238E27FC236}">
                <a16:creationId xmlns:a16="http://schemas.microsoft.com/office/drawing/2014/main" id="{7B38BBAB-4839-456C-5FA2-E49C8763ADF1}"/>
              </a:ext>
            </a:extLst>
          </p:cNvPr>
          <p:cNvSpPr txBox="1"/>
          <p:nvPr/>
        </p:nvSpPr>
        <p:spPr>
          <a:xfrm>
            <a:off x="527153" y="3608882"/>
            <a:ext cx="10625528" cy="3107133"/>
          </a:xfrm>
          <a:prstGeom prst="rect">
            <a:avLst/>
          </a:prstGeom>
          <a:noFill/>
        </p:spPr>
        <p:txBody>
          <a:bodyPr wrap="square">
            <a:spAutoFit/>
          </a:bodyPr>
          <a:lstStyle/>
          <a:p>
            <a:pPr marL="0" marR="0" algn="ctr">
              <a:lnSpc>
                <a:spcPct val="115000"/>
              </a:lnSpc>
              <a:spcAft>
                <a:spcPts val="800"/>
              </a:spcAft>
              <a:buNone/>
            </a:pPr>
            <a:r>
              <a:rPr lang="en-US" sz="2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Ethical Considerations</a:t>
            </a:r>
            <a:endParaRPr lang="en-US" sz="2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Cloud administrators are entrusted with protecting sensitive organizational information. This project reinforced several important ethical responsibilities.</a:t>
            </a:r>
          </a:p>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Data Privacy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Departmental information should remain accessible only to authorized personnel. Proper RBAC implementation protects confidential business information and supports user privacy.</a:t>
            </a:r>
          </a:p>
        </p:txBody>
      </p:sp>
    </p:spTree>
    <p:extLst>
      <p:ext uri="{BB962C8B-B14F-4D97-AF65-F5344CB8AC3E}">
        <p14:creationId xmlns:p14="http://schemas.microsoft.com/office/powerpoint/2010/main" val="14815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F9A566-7BE6-6B7F-41EC-5F134FCDB685}"/>
              </a:ext>
            </a:extLst>
          </p:cNvPr>
          <p:cNvSpPr txBox="1"/>
          <p:nvPr/>
        </p:nvSpPr>
        <p:spPr>
          <a:xfrm>
            <a:off x="329782" y="553705"/>
            <a:ext cx="11107711" cy="6635791"/>
          </a:xfrm>
          <a:prstGeom prst="rect">
            <a:avLst/>
          </a:prstGeom>
          <a:noFill/>
        </p:spPr>
        <p:txBody>
          <a:bodyPr wrap="square">
            <a:spAutoFit/>
          </a:bodyPr>
          <a:lstStyle/>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Confidentiality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Unauthorized access to storage resources could expose financial records, customer information, engineering documents, or proprietary business data. Restricting access protects organizational confidentiality.</a:t>
            </a:r>
          </a:p>
          <a:p>
            <a:pPr marL="0" marR="0">
              <a:lnSpc>
                <a:spcPct val="115000"/>
              </a:lnSpc>
              <a:spcAft>
                <a:spcPts val="800"/>
              </a:spcAft>
              <a:buNone/>
            </a:pPr>
            <a:br>
              <a:rPr lang="en-US" sz="2100" kern="100" dirty="0">
                <a:effectLst/>
                <a:latin typeface="Aptos" panose="020B0004020202020204" pitchFamily="34" charset="0"/>
                <a:ea typeface="Aptos" panose="020B0004020202020204" pitchFamily="34" charset="0"/>
                <a:cs typeface="Times New Roman" panose="02020603050405020304" pitchFamily="18" charset="0"/>
              </a:rPr>
            </a:b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Accountability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Every configuration change should be documented and performed responsibly. Administrators must understand the impact of their decisions before implementing changes in production environments.</a:t>
            </a:r>
          </a:p>
          <a:p>
            <a:pPr marL="0" marR="0">
              <a:lnSpc>
                <a:spcPct val="115000"/>
              </a:lnSpc>
              <a:spcAft>
                <a:spcPts val="800"/>
              </a:spcAft>
              <a:buNone/>
            </a:pPr>
            <a:br>
              <a:rPr lang="en-US" sz="2100" kern="100" dirty="0">
                <a:effectLst/>
                <a:latin typeface="Aptos" panose="020B0004020202020204" pitchFamily="34" charset="0"/>
                <a:ea typeface="Aptos" panose="020B0004020202020204" pitchFamily="34" charset="0"/>
                <a:cs typeface="Times New Roman" panose="02020603050405020304" pitchFamily="18" charset="0"/>
              </a:rPr>
            </a:b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Integrity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Professional integrity requires correcting security weaknesses immediately rather than ignoring them for convenience or speed. Secure deployments demonstrate responsible stewardship of organizational resources.</a:t>
            </a:r>
          </a:p>
          <a:p>
            <a:pPr marL="0" marR="0" algn="ctr">
              <a:lnSpc>
                <a:spcPct val="115000"/>
              </a:lnSpc>
              <a:spcAft>
                <a:spcPts val="800"/>
              </a:spcAft>
              <a:buNone/>
            </a:pPr>
            <a:br>
              <a:rPr lang="en-US" sz="2100" kern="100" dirty="0">
                <a:effectLst/>
                <a:latin typeface="Aptos" panose="020B0004020202020204" pitchFamily="34" charset="0"/>
                <a:ea typeface="Aptos" panose="020B0004020202020204" pitchFamily="34" charset="0"/>
                <a:cs typeface="Times New Roman" panose="02020603050405020304" pitchFamily="18" charset="0"/>
              </a:rPr>
            </a:br>
            <a:endParaRPr lang="en-US" sz="2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7227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8F72C-6544-A525-52B5-D097C7FCF780}"/>
              </a:ext>
            </a:extLst>
          </p:cNvPr>
          <p:cNvSpPr txBox="1"/>
          <p:nvPr/>
        </p:nvSpPr>
        <p:spPr>
          <a:xfrm>
            <a:off x="846945" y="337811"/>
            <a:ext cx="10215796" cy="2363852"/>
          </a:xfrm>
          <a:prstGeom prst="rect">
            <a:avLst/>
          </a:prstGeom>
          <a:noFill/>
        </p:spPr>
        <p:txBody>
          <a:bodyPr wrap="square">
            <a:spAutoFit/>
          </a:bodyPr>
          <a:lstStyle/>
          <a:p>
            <a:pPr marL="0" marR="0">
              <a:lnSpc>
                <a:spcPct val="115000"/>
              </a:lnSpc>
              <a:spcAft>
                <a:spcPts val="800"/>
              </a:spcAft>
              <a:buNone/>
            </a:pPr>
            <a:r>
              <a:rPr lang="en-US" sz="2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Impact of the Refinements</a:t>
            </a:r>
            <a:endParaRPr lang="en-US" sz="2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The refinements produced several important improvements.</a:t>
            </a:r>
          </a:p>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Security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Reduced unauthorized access, Improved identity management, Stronger permission control, Better protection of organizational data</a:t>
            </a:r>
          </a:p>
        </p:txBody>
      </p:sp>
      <p:sp>
        <p:nvSpPr>
          <p:cNvPr id="7" name="TextBox 6">
            <a:extLst>
              <a:ext uri="{FF2B5EF4-FFF2-40B4-BE49-F238E27FC236}">
                <a16:creationId xmlns:a16="http://schemas.microsoft.com/office/drawing/2014/main" id="{9F90BEF2-6443-A91D-3571-5CCEE6EEBE08}"/>
              </a:ext>
            </a:extLst>
          </p:cNvPr>
          <p:cNvSpPr txBox="1"/>
          <p:nvPr/>
        </p:nvSpPr>
        <p:spPr>
          <a:xfrm>
            <a:off x="966864" y="2636087"/>
            <a:ext cx="9631181" cy="1765740"/>
          </a:xfrm>
          <a:prstGeom prst="rect">
            <a:avLst/>
          </a:prstGeom>
          <a:noFill/>
        </p:spPr>
        <p:txBody>
          <a:bodyPr wrap="square">
            <a:spAutoFit/>
          </a:bodyPr>
          <a:lstStyle/>
          <a:p>
            <a:pPr marL="0" marR="0">
              <a:lnSpc>
                <a:spcPct val="115000"/>
              </a:lnSpc>
              <a:spcAft>
                <a:spcPts val="800"/>
              </a:spcAft>
              <a:buNone/>
            </a:pPr>
            <a:endPar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Reliability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More consistent deployment process, Reduced administrative errors and Improved resource organization</a:t>
            </a:r>
          </a:p>
        </p:txBody>
      </p:sp>
      <p:sp>
        <p:nvSpPr>
          <p:cNvPr id="9" name="TextBox 8">
            <a:extLst>
              <a:ext uri="{FF2B5EF4-FFF2-40B4-BE49-F238E27FC236}">
                <a16:creationId xmlns:a16="http://schemas.microsoft.com/office/drawing/2014/main" id="{F8024527-DCCB-F161-E2CC-307E2ED60706}"/>
              </a:ext>
            </a:extLst>
          </p:cNvPr>
          <p:cNvSpPr txBox="1"/>
          <p:nvPr/>
        </p:nvSpPr>
        <p:spPr>
          <a:xfrm>
            <a:off x="966864" y="4606042"/>
            <a:ext cx="10215796" cy="1765740"/>
          </a:xfrm>
          <a:prstGeom prst="rect">
            <a:avLst/>
          </a:prstGeom>
          <a:noFill/>
        </p:spPr>
        <p:txBody>
          <a:bodyPr wrap="square">
            <a:spAutoFit/>
          </a:bodyPr>
          <a:lstStyle/>
          <a:p>
            <a:pPr marL="0" marR="0">
              <a:lnSpc>
                <a:spcPct val="115000"/>
              </a:lnSpc>
              <a:spcAft>
                <a:spcPts val="800"/>
              </a:spcAft>
              <a:buNone/>
            </a:pPr>
            <a:r>
              <a:rPr lang="en-US" sz="21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Scalability</a:t>
            </a:r>
            <a:endParaRPr lang="en-US" sz="21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Using Microsoft Entra ID security groups allows the organization to grow without significantly increasing administrative complexity.</a:t>
            </a: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Future departments can be added using the same security model.</a:t>
            </a:r>
          </a:p>
        </p:txBody>
      </p:sp>
    </p:spTree>
    <p:extLst>
      <p:ext uri="{BB962C8B-B14F-4D97-AF65-F5344CB8AC3E}">
        <p14:creationId xmlns:p14="http://schemas.microsoft.com/office/powerpoint/2010/main" val="192773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552C0-2420-AC22-4DC1-BD8CA0B01094}"/>
              </a:ext>
            </a:extLst>
          </p:cNvPr>
          <p:cNvSpPr txBox="1"/>
          <p:nvPr/>
        </p:nvSpPr>
        <p:spPr>
          <a:xfrm>
            <a:off x="959370" y="278907"/>
            <a:ext cx="10687987" cy="6529352"/>
          </a:xfrm>
          <a:prstGeom prst="rect">
            <a:avLst/>
          </a:prstGeom>
          <a:noFill/>
        </p:spPr>
        <p:txBody>
          <a:bodyPr wrap="square">
            <a:spAutoFit/>
          </a:bodyPr>
          <a:lstStyle/>
          <a:p>
            <a:pPr marL="0" marR="0" algn="ctr">
              <a:lnSpc>
                <a:spcPct val="115000"/>
              </a:lnSpc>
              <a:spcAft>
                <a:spcPts val="800"/>
              </a:spcAft>
              <a:buNone/>
            </a:pPr>
            <a:r>
              <a:rPr lang="en-US" sz="2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Professional Growth</a:t>
            </a:r>
            <a:endParaRPr lang="en-US" sz="2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This project significantly expanded my understanding of:</a:t>
            </a:r>
          </a:p>
          <a:p>
            <a:pPr marL="0" marR="0">
              <a:lnSpc>
                <a:spcPct val="115000"/>
              </a:lnSpc>
              <a:spcAft>
                <a:spcPts val="800"/>
              </a:spcAft>
              <a:buNone/>
            </a:pPr>
            <a:endParaRPr lang="en-US" sz="2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Microsoft Azure Administration</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Microsoft Entra ID</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Azure RBAC</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Azure Storage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Cloud Governance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Cloud Security</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Identity and Access Management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Infrastructure Planning</a:t>
            </a:r>
          </a:p>
          <a:p>
            <a:pPr marL="0" marR="0">
              <a:lnSpc>
                <a:spcPct val="115000"/>
              </a:lnSpc>
              <a:spcAft>
                <a:spcPts val="800"/>
              </a:spcAft>
              <a:buNone/>
            </a:pPr>
            <a:r>
              <a:rPr lang="en-US" sz="2100" kern="100" dirty="0">
                <a:effectLst/>
                <a:latin typeface="Aptos" panose="020B0004020202020204" pitchFamily="34" charset="0"/>
                <a:ea typeface="Aptos" panose="020B0004020202020204" pitchFamily="34" charset="0"/>
                <a:cs typeface="Times New Roman" panose="02020603050405020304" pitchFamily="18" charset="0"/>
              </a:rPr>
              <a:t>Perhaps most importantly, I learned that cloud administration is not simply about deploying resources—it is about designing secure, reliable, and ethical technology solutions that protect users and organizational data.</a:t>
            </a:r>
          </a:p>
        </p:txBody>
      </p:sp>
    </p:spTree>
    <p:extLst>
      <p:ext uri="{BB962C8B-B14F-4D97-AF65-F5344CB8AC3E}">
        <p14:creationId xmlns:p14="http://schemas.microsoft.com/office/powerpoint/2010/main" val="1029948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6CDC20-35D3-F67D-8869-AF76FF0F72CE}"/>
              </a:ext>
            </a:extLst>
          </p:cNvPr>
          <p:cNvSpPr txBox="1"/>
          <p:nvPr/>
        </p:nvSpPr>
        <p:spPr>
          <a:xfrm>
            <a:off x="707036" y="254833"/>
            <a:ext cx="10777928" cy="6691255"/>
          </a:xfrm>
          <a:prstGeom prst="rect">
            <a:avLst/>
          </a:prstGeom>
          <a:noFill/>
        </p:spPr>
        <p:txBody>
          <a:bodyPr wrap="square">
            <a:spAutoFit/>
          </a:bodyPr>
          <a:lstStyle/>
          <a:p>
            <a:pPr marL="0" marR="0" algn="ctr">
              <a:lnSpc>
                <a:spcPct val="115000"/>
              </a:lnSpc>
              <a:spcAft>
                <a:spcPts val="800"/>
              </a:spcAft>
              <a:buNone/>
            </a:pPr>
            <a:r>
              <a:rPr lang="en-US" sz="32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Lessons Learned</a:t>
            </a:r>
            <a:endParaRPr lang="en-US" sz="3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This project taught me several valuable lessons:</a:t>
            </a:r>
          </a:p>
          <a:p>
            <a:pPr marL="0" marR="0">
              <a:lnSpc>
                <a:spcPct val="115000"/>
              </a:lnSpc>
              <a:spcAft>
                <a:spcPts val="800"/>
              </a:spcAft>
              <a:buNone/>
            </a:pP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Careful planning prevents deployment failures.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Security should be considered from the beginning of every project.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Documentation is essential for long-term success.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Testing improves deployment quality.</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Ethical decision-making is just as important as technical expertise.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Continuous learning is necessary because cloud technologies evolve rapidly.</a:t>
            </a:r>
          </a:p>
          <a:p>
            <a:pPr marL="0" marR="0">
              <a:lnSpc>
                <a:spcPct val="115000"/>
              </a:lnSpc>
              <a:spcAft>
                <a:spcPts val="800"/>
              </a:spcAft>
              <a:buNone/>
            </a:pP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These lessons will influence how I approach future cloud administration projects throughout my career.</a:t>
            </a:r>
          </a:p>
          <a:p>
            <a:pPr marL="0" marR="0" algn="ctr">
              <a:lnSpc>
                <a:spcPct val="115000"/>
              </a:lnSpc>
              <a:spcAft>
                <a:spcPts val="800"/>
              </a:spcAft>
              <a:buNone/>
            </a:pP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04328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21846D-3C74-A8E0-3DDD-79EFE9A4DB08}"/>
              </a:ext>
            </a:extLst>
          </p:cNvPr>
          <p:cNvSpPr txBox="1"/>
          <p:nvPr/>
        </p:nvSpPr>
        <p:spPr>
          <a:xfrm>
            <a:off x="824459" y="532883"/>
            <a:ext cx="10732957" cy="5548507"/>
          </a:xfrm>
          <a:prstGeom prst="rect">
            <a:avLst/>
          </a:prstGeom>
          <a:noFill/>
        </p:spPr>
        <p:txBody>
          <a:bodyPr wrap="square">
            <a:spAutoFit/>
          </a:bodyPr>
          <a:lstStyle/>
          <a:p>
            <a:pPr marL="0" marR="0" algn="ctr">
              <a:lnSpc>
                <a:spcPct val="115000"/>
              </a:lnSpc>
              <a:spcAft>
                <a:spcPts val="800"/>
              </a:spcAft>
              <a:buNone/>
            </a:pPr>
            <a:r>
              <a:rPr lang="en-US" sz="28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Conclusion</a:t>
            </a:r>
            <a:endParaRPr lang="en-US" sz="28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Completing this Azure Infrastructure Deployment project has been one of the most valuable learning experiences of my Information Technology education. It allowed me to apply classroom knowledge to practical cloud administration tasks while strengthening my understanding of security, governance, identity management, and ethical responsibility.</a:t>
            </a: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By refining the project through improved access control, stronger security validation, better documentation, and adherence to the principle of least privilege, I transformed the initial deployment into a more secure, scalable, and maintainable cloud environment.</a:t>
            </a:r>
          </a:p>
          <a:p>
            <a:pPr marL="0" marR="0">
              <a:lnSpc>
                <a:spcPct val="115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This project has prepared me for future roles in cloud administration and technical support by reinforcing the importance of combining technical excellence with integrity, accountability, and service.</a:t>
            </a:r>
          </a:p>
        </p:txBody>
      </p:sp>
    </p:spTree>
    <p:extLst>
      <p:ext uri="{BB962C8B-B14F-4D97-AF65-F5344CB8AC3E}">
        <p14:creationId xmlns:p14="http://schemas.microsoft.com/office/powerpoint/2010/main" val="407788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86A46-3665-1BA7-07EF-24AD59572356}"/>
              </a:ext>
            </a:extLst>
          </p:cNvPr>
          <p:cNvSpPr>
            <a:spLocks noGrp="1"/>
          </p:cNvSpPr>
          <p:nvPr>
            <p:ph type="title"/>
          </p:nvPr>
        </p:nvSpPr>
        <p:spPr>
          <a:xfrm>
            <a:off x="649574" y="140368"/>
            <a:ext cx="9905998" cy="1478570"/>
          </a:xfrm>
        </p:spPr>
        <p:txBody>
          <a:bodyPr/>
          <a:lstStyle/>
          <a:p>
            <a:pPr algn="ctr"/>
            <a:r>
              <a:rPr lang="en-US" b="1" dirty="0"/>
              <a:t>References</a:t>
            </a:r>
            <a:br>
              <a:rPr lang="en-US" dirty="0"/>
            </a:br>
            <a:endParaRPr lang="en-US" dirty="0"/>
          </a:p>
        </p:txBody>
      </p:sp>
      <p:sp>
        <p:nvSpPr>
          <p:cNvPr id="3" name="TextBox 2">
            <a:extLst>
              <a:ext uri="{FF2B5EF4-FFF2-40B4-BE49-F238E27FC236}">
                <a16:creationId xmlns:a16="http://schemas.microsoft.com/office/drawing/2014/main" id="{E2D47879-976A-E490-AF4A-D6DAC4F5AB49}"/>
              </a:ext>
            </a:extLst>
          </p:cNvPr>
          <p:cNvSpPr txBox="1"/>
          <p:nvPr/>
        </p:nvSpPr>
        <p:spPr>
          <a:xfrm>
            <a:off x="754505" y="1424065"/>
            <a:ext cx="10892852" cy="4832092"/>
          </a:xfrm>
          <a:prstGeom prst="rect">
            <a:avLst/>
          </a:prstGeom>
          <a:noFill/>
        </p:spPr>
        <p:txBody>
          <a:bodyPr wrap="square" rtlCol="0">
            <a:spAutoFit/>
          </a:bodyPr>
          <a:lstStyle/>
          <a:p>
            <a:r>
              <a:rPr lang="en-US" sz="2800" dirty="0"/>
              <a:t>Microsoft. (2025). </a:t>
            </a:r>
            <a:r>
              <a:rPr lang="en-US" sz="2800" i="1" dirty="0"/>
              <a:t>Azure role-based access control (Azure RBAC)</a:t>
            </a:r>
            <a:r>
              <a:rPr lang="en-US" sz="2800" dirty="0"/>
              <a:t>. </a:t>
            </a:r>
            <a:r>
              <a:rPr lang="en-US" sz="2800" u="sng" dirty="0">
                <a:hlinkClick r:id="rId2"/>
              </a:rPr>
              <a:t>https://learn.microsoft.com/azure/role-based-access-control/overview</a:t>
            </a:r>
            <a:endParaRPr lang="en-US" sz="2800" dirty="0"/>
          </a:p>
          <a:p>
            <a:r>
              <a:rPr lang="en-US" sz="2800" dirty="0"/>
              <a:t>Microsoft. (2025). </a:t>
            </a:r>
            <a:r>
              <a:rPr lang="en-US" sz="2800" i="1" dirty="0"/>
              <a:t>Azure Storage documentation</a:t>
            </a:r>
            <a:r>
              <a:rPr lang="en-US" sz="2800" dirty="0"/>
              <a:t>. </a:t>
            </a:r>
            <a:r>
              <a:rPr lang="en-US" sz="2800" u="sng" dirty="0">
                <a:hlinkClick r:id="rId3"/>
              </a:rPr>
              <a:t>https://learn.microsoft.com/azure/storage/</a:t>
            </a:r>
            <a:endParaRPr lang="en-US" sz="2800" dirty="0"/>
          </a:p>
          <a:p>
            <a:r>
              <a:rPr lang="en-US" sz="2800" dirty="0"/>
              <a:t>Microsoft. (2025). </a:t>
            </a:r>
            <a:r>
              <a:rPr lang="en-US" sz="2800" i="1" dirty="0"/>
              <a:t>Microsoft Entra ID documentation</a:t>
            </a:r>
            <a:r>
              <a:rPr lang="en-US" sz="2800" dirty="0"/>
              <a:t>. </a:t>
            </a:r>
            <a:r>
              <a:rPr lang="en-US" sz="2800" u="sng" dirty="0">
                <a:hlinkClick r:id="rId4"/>
              </a:rPr>
              <a:t>https://learn.microsoft.com/entra/</a:t>
            </a:r>
            <a:endParaRPr lang="en-US" sz="2800" dirty="0"/>
          </a:p>
          <a:p>
            <a:r>
              <a:rPr lang="en-US" sz="2800" dirty="0"/>
              <a:t>Microsoft. (2025). </a:t>
            </a:r>
            <a:r>
              <a:rPr lang="en-US" sz="2800" i="1" dirty="0"/>
              <a:t>Azure Well-Architected Framework</a:t>
            </a:r>
            <a:r>
              <a:rPr lang="en-US" sz="2800" dirty="0"/>
              <a:t>. </a:t>
            </a:r>
            <a:r>
              <a:rPr lang="en-US" sz="2800" u="sng" dirty="0">
                <a:hlinkClick r:id="rId5"/>
              </a:rPr>
              <a:t>https://learn.microsoft.com/azure/well-architected/</a:t>
            </a:r>
            <a:endParaRPr lang="en-US" sz="2800" dirty="0"/>
          </a:p>
          <a:p>
            <a:r>
              <a:rPr lang="en-US" sz="2800" dirty="0"/>
              <a:t>The Church of Jesus Christ of Latter-day Saints. (2013). </a:t>
            </a:r>
            <a:r>
              <a:rPr lang="en-US" sz="2800" i="1" dirty="0"/>
              <a:t>Doctrine and Covenants</a:t>
            </a:r>
            <a:r>
              <a:rPr lang="en-US" sz="2800" dirty="0"/>
              <a:t>. </a:t>
            </a:r>
            <a:r>
              <a:rPr lang="en-US" sz="2800" u="sng" dirty="0">
                <a:hlinkClick r:id="rId6"/>
              </a:rPr>
              <a:t>https://www.churchofjesuschrist.org/study/scriptures/dc-testament</a:t>
            </a:r>
            <a:endParaRPr lang="en-US" sz="2800" dirty="0"/>
          </a:p>
        </p:txBody>
      </p:sp>
    </p:spTree>
    <p:extLst>
      <p:ext uri="{BB962C8B-B14F-4D97-AF65-F5344CB8AC3E}">
        <p14:creationId xmlns:p14="http://schemas.microsoft.com/office/powerpoint/2010/main" val="39865572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1398</Words>
  <Application>Microsoft Office PowerPoint</Application>
  <PresentationFormat>Widescreen</PresentationFormat>
  <Paragraphs>141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Symbol</vt:lpstr>
      <vt:lpstr>Tw Cen MT</vt:lpstr>
      <vt:lpstr>Wingdings</vt:lpstr>
      <vt:lpstr>Circuit</vt:lpstr>
      <vt:lpstr>Azure Project Refinement             Report Azure Infrastructure Deployment and Security Enhancement</vt:lpstr>
      <vt:lpstr>Table Of Contents</vt:lpstr>
      <vt:lpstr>Executive Summary </vt:lpstr>
      <vt:lpstr>Original Project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Ubong Esu</dc:creator>
  <cp:lastModifiedBy>Ubong Esu</cp:lastModifiedBy>
  <cp:revision>1</cp:revision>
  <dcterms:created xsi:type="dcterms:W3CDTF">2026-07-22T03:49:53Z</dcterms:created>
  <dcterms:modified xsi:type="dcterms:W3CDTF">2026-07-23T16:15:35Z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2026-07-23T16:15:28Z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42804ae1-d2e9-40b7-a4a3-45811234298b</vt:lpwstr>
  </property>
  <property fmtid="{D5CDD505-2E9C-101B-9397-08002B2CF9AE}" pid="7" name="MSIP_Label_defa4170-0d19-0005-0004-bc88714345d2_ActionId">
    <vt:lpwstr>f8e61dd2-0c9f-42ba-89fa-4158b4647260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